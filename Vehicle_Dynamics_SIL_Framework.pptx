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9202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Electric Vehicle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Simulation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4DE"/>
                </a:solidFill>
              </a:rPr>
              <a:t>3-DOF Rigid Body Dynamics  ·  Dugoff Tire Model  ·  5-Sensor Suite  ·  CAN Bus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Mario Tilocca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07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930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Model 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From 1-DOF kinematic to full 3-DOF planar dynamics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8" y="1234440"/>
            <a:ext cx="365760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307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28930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3-DOF Rigid Body Dynamics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61848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Equations of motion in rotating body frame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1234440"/>
            <a:ext cx="365760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4" y="1307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128930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Dugoff Tire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161848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Physics-based Fx/Fy with friction saturation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76272"/>
            <a:ext cx="365760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22494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23113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Steering &amp; Kinematics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56032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Ackermann geometry · per-wheel slip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8808" y="2176272"/>
            <a:ext cx="365760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8536" y="22494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223113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Load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256032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Longitudinal &amp; lateral weight redistribution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2176272"/>
            <a:ext cx="365760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4" y="22494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223113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CAN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56032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Gear selector · subsystem execution order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118104"/>
            <a:ext cx="365760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1729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Simulation 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5021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Cusp maneuver · 5-figure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8808" y="3118104"/>
            <a:ext cx="365760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8536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31729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Sensor Suite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35021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5 sensor types with validated noise models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7576" y="3118104"/>
            <a:ext cx="365760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7304" y="3191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31729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Future Developments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35021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Near / medium / long-term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Model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From Kinematic Bicycle to Full 3-DOF Planar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566160" cy="4892040"/>
          </a:xfrm>
          <a:prstGeom prst="rect">
            <a:avLst/>
          </a:prstGeom>
          <a:solidFill>
            <a:srgbClr val="1E2D45"/>
          </a:solidFill>
          <a:ln w="190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C4DE"/>
                </a:solidFill>
              </a:rPr>
              <a:t>V1 — Kinematic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Pure rolling, no slip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Ackermann steering 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No traction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Instantaneous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5303520"/>
            <a:ext cx="3346704" cy="640080"/>
          </a:xfrm>
          <a:prstGeom prst="rect">
            <a:avLst/>
          </a:prstGeom>
          <a:solidFill>
            <a:srgbClr val="0A0E1A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5349240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Actuator → Drive → Velocity → Position/Yaw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7368" y="1188720"/>
            <a:ext cx="3566160" cy="4892040"/>
          </a:xfrm>
          <a:prstGeom prst="rect">
            <a:avLst/>
          </a:prstGeom>
          <a:solidFill>
            <a:srgbClr val="1E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V2 — Torque-Only Dynamic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Friction-limited forces  (μFz)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Dugoff Fx · Fy from slip ratios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Normal load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No wheel rotational dynamics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5303520"/>
            <a:ext cx="3346704" cy="640080"/>
          </a:xfrm>
          <a:prstGeom prst="rect">
            <a:avLst/>
          </a:prstGeom>
          <a:solidFill>
            <a:srgbClr val="0A0E1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5349240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Actuator → Drive → Tire Forces → Accel → Velocity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54696" y="1188720"/>
            <a:ext cx="3566160" cy="4892040"/>
          </a:xfrm>
          <a:prstGeom prst="rect">
            <a:avLst/>
          </a:prstGeom>
          <a:solidFill>
            <a:srgbClr val="1E2D4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1856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AF50"/>
                </a:solidFill>
              </a:rPr>
              <a:t>V3 — Full 3-DOF (Current)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6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Full vx · vy · ψ̇ rigid body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6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Per-wheel ω ODE (Iw·ω̇ = τ-Fx·R)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Centripetal coupling in body 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Gear selector via 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Hybrid kinematic/dynamic blend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64424" y="5303520"/>
            <a:ext cx="3346704" cy="640080"/>
          </a:xfrm>
          <a:prstGeom prst="rect">
            <a:avLst/>
          </a:prstGeom>
          <a:solidFill>
            <a:srgbClr val="0A0E1A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5349240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CAF50"/>
                </a:solidFill>
              </a:rPr>
              <a:t>Actuator → Wheel Dynamics → Slip → Dugoff → Vehicle 3-DOF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3-DOF Rigid Body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Full planar motion in the vehicle body frame  (origin at CG, x-forward, y-left)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303520" cy="1005840"/>
          </a:xfrm>
          <a:prstGeom prst="rect">
            <a:avLst/>
          </a:prstGeom>
          <a:solidFill>
            <a:srgbClr val="1E2D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State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x = [ vx  vy  ψ̇  x  y  ψ ]ᵀ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31720"/>
            <a:ext cx="1152144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865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722"/>
                </a:solidFill>
              </a:rPr>
              <a:t>Longitudinal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6829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m·v̇x = ΣFx − Fdrag − Froll  +  m·vy·ψ̇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70632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↳  Centrifugal coupling from rotating frame  →  essential for stability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172968"/>
            <a:ext cx="1152144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27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Lateral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0954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m·v̇y = ΣFy  −  m·vx·ψ̇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11880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↳  Centripetal acceleration  →  couples lateral &amp; longitudinal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14216"/>
            <a:ext cx="1152144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Yaw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05079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Iz·ψ̈ = Σᵢ ( xᵢ·Fyᵢ − yᵢ·Fxᵢ 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453128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↳  Cross product of wheel position × tire force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55464"/>
            <a:ext cx="11521440" cy="777240"/>
          </a:xfrm>
          <a:prstGeom prst="rect">
            <a:avLst/>
          </a:prstGeom>
          <a:solidFill>
            <a:srgbClr val="1E2D45"/>
          </a:solidFill>
          <a:ln w="9525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10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92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ẋ = vx·cosψ − vy·sinψ     ẏ = vx·sinψ + vy·cosψ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94376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↳  Rotation matrix R(ψ) applied to body velocities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Dugoff Tire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Physics-based Fx · Fy from combined slip with friction circle saturation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486400" cy="1225296"/>
          </a:xfrm>
          <a:prstGeom prst="rect">
            <a:avLst/>
          </a:prstGeom>
          <a:solidFill>
            <a:srgbClr val="1E2D45"/>
          </a:solidFill>
          <a:ln w="9525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722"/>
                </a:solidFill>
              </a:rPr>
              <a:t>Fundamental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Fx = −gdir · Cx · σx · f(λ)   (longitudinal)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Fy = −Cy · σy · f(λ)            (lateral)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396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gdir: +1 Forward, −1 Reverse, 0 Neutral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23744"/>
            <a:ext cx="5486400" cy="1225296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694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Friction Utilisation Parameter 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163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λ = μ·Fz / ( 2·√( (Cx·σx)² + (Cy·σy)² )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455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λ ≥ 1  →  linear regime (grip available)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λ &lt; 1  →  saturated / sliding regime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58768"/>
            <a:ext cx="5486400" cy="1225296"/>
          </a:xfrm>
          <a:prstGeom prst="rect">
            <a:avLst/>
          </a:prstGeom>
          <a:solidFill>
            <a:srgbClr val="1E2D45"/>
          </a:solidFill>
          <a:ln w="9525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044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Saturation Function f(λ)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5137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f(λ) = (2−λ)·λ   if λ &lt; 1   (friction circle active)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f(λ) = 1            if λ ≥ 1   (linear, full grip)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974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Guarantees  √(Fx²+Fy²) ≤ μ·Fz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93792"/>
            <a:ext cx="5486400" cy="1225296"/>
          </a:xfrm>
          <a:prstGeom prst="rect">
            <a:avLst/>
          </a:prstGeom>
          <a:solidFill>
            <a:srgbClr val="1E2D45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395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Load-Dependent Stiffness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Cx(Fz) = Cx,base · Fz / Fz,ref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1558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Cy(Fz) = Cy,base · Fz / Fz,ref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447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Load transfer ⟹ grip redistribution per wheel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Slip Ratio Definitions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508760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σx = (ω·R − Vx) / max(|Vx|, |ωR|, vmin)   [longitudinal]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1856232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σy = Vy / |Vx|   ≈  tan(α)                           [lateral]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203704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α  = arctan( vy,w / |vx,w| )                         [slip angle]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788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Surface Friction Coefficients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1272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Surface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1272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1272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Use case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3383280"/>
            <a:ext cx="5943600" cy="3200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4015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Dry pavement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4015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34015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Urban / highway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3730752"/>
            <a:ext cx="5943600" cy="32004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3749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Compact gravel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3749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749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Mining haul roads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4078224"/>
            <a:ext cx="5943600" cy="3200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4096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Loose gravel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096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4096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Unpaved surfaces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4425696"/>
            <a:ext cx="5943600" cy="32004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4439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Wet surfaces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4439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44439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Rain conditions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4773168"/>
            <a:ext cx="5943600" cy="3200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4791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791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4791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Extreme off-road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Steering Geometry &amp; Per-Wheel Kinematics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Ackermann geometry  ·  wheel velocity  ·  slip angle computation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Ackermann Steering 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Turn radius:   R = L / tan(δ)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568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Outer wheel:  δFL = arctan( L / (R + W/2)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40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Inner wheel:  δFR = arctan( L / (R − W/2)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249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Condition:  cot(δouter) − cot(δinner) = W/L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Ackermann %:  blends between parallel &amp; pure Ackermann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930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Speed limit:  δmax(v) = δmax,0 · r(v)   [reduces at high speed]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770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Rate limit:   δ̇ clamped  (hydraulic: 30–60 °/s)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611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Min turn radius XCMG XDE320:  Rmin = 9.0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722"/>
                </a:solidFill>
              </a:rPr>
              <a:t>Per-Wheel Kinematics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572768"/>
            <a:ext cx="5943600" cy="512064"/>
          </a:xfrm>
          <a:prstGeom prst="rect">
            <a:avLst/>
          </a:prstGeom>
          <a:solidFill>
            <a:srgbClr val="1E2D45"/>
          </a:solidFill>
          <a:ln w="9525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60934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722"/>
                </a:solidFill>
              </a:rPr>
              <a:t>Wheel velocity (vehicle frame)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84708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vᵢ = [vx − ψ̇·yᵢ ,  vy + ψ̇·xᵢ]ᵀ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194560"/>
            <a:ext cx="5943600" cy="859536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2311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Transform to wheel frame (steered wheels)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468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[vx,w]   [cos δ   sin δ] [vx − ψ̇·y]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79806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[vy,w] = [−sin δ  cos δ] [vy + ψ̇·x]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163824"/>
            <a:ext cx="5943600" cy="512064"/>
          </a:xfrm>
          <a:prstGeom prst="rect">
            <a:avLst/>
          </a:prstGeom>
          <a:solidFill>
            <a:srgbClr val="1E2D45"/>
          </a:solidFill>
          <a:ln w="9525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2004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Slip angle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43814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α = arctan( vy,w / |vx,w| 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785616"/>
            <a:ext cx="5943600" cy="1207008"/>
          </a:xfrm>
          <a:prstGeom prst="rect">
            <a:avLst/>
          </a:prstGeom>
          <a:solidFill>
            <a:srgbClr val="1E2D45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82219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Wheel rotational 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05993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Iw·ω̇ = τdrive − τbrake − Fx·R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38912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Feedback term −Fx·R enables slip development,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71830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wheel spin &amp; wheel 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Load Transfer &amp; Normal Load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Weight redistribution during acceleration, braking and cornering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394960" cy="1563624"/>
          </a:xfrm>
          <a:prstGeom prst="rect">
            <a:avLst/>
          </a:prstGeom>
          <a:solidFill>
            <a:srgbClr val="1E2D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Static Load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Fz,front_static = m·g·Lr / 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Fz,rear_static  = m·g·Lf /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67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where L = Lf + Lr (wheelbase)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394960" cy="2331720"/>
          </a:xfrm>
          <a:prstGeom prst="rect">
            <a:avLst/>
          </a:prstGeom>
          <a:solidFill>
            <a:srgbClr val="1E2D45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618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722"/>
                </a:solidFill>
              </a:rPr>
              <a:t>Longitudinal Load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ΔFz = m · ax · hCG /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Acceleration (ax &gt; 0):  weight → rear  →  more rear 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67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Braking (ax &lt; 0):         weight → front  →  more front braking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15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Fz,front = Fz,front_static − ΔFz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626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Fz,rear  = Fz,rear_static  + ΔFz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31720"/>
            <a:ext cx="5394960" cy="1947672"/>
          </a:xfrm>
          <a:prstGeom prst="rect">
            <a:avLst/>
          </a:prstGeom>
          <a:solidFill>
            <a:srgbClr val="1E2D45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4048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Lateral Load Transfer (Cornering)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15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ΔFz,lat = m · ay · hCG / W   (ay = ΣFy / 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Left turn: inside wheels unload, outside load increases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10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Fz,left  = Fz,static − ΔFz,lat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58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Fz,right = Fz,static + ΔFz,lat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331720"/>
            <a:ext cx="5394960" cy="1947672"/>
          </a:xfrm>
          <a:prstGeom prst="rect">
            <a:avLst/>
          </a:prstGeom>
          <a:solidFill>
            <a:srgbClr val="1E2D45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4048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Impact on Grip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15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Load-dependent stiffness: Cx/Cy ∝ Fz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063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Load transfer ⟹ asymmetric grip per wheel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410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Combined: compute per-wheel Fz every timestep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758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Used directly in Dugoff friction utilisation 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CAN Bus Architecture &amp; Subsystem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Real-time CAN RX/TX  ·  priority-ordered subsystem manager  ·  gear selector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Subsystem Execution Order (priority ascending)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Subsystem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72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Outputs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47088"/>
            <a:ext cx="64008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65376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8653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Steer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8653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δcmd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86537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δfl, δfr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31136"/>
            <a:ext cx="6400800" cy="347472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4942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722"/>
                </a:solidFill>
              </a:rPr>
              <a:t>Drive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24942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τcmd, brake%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4942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τdrive,i, τbrake,i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15184"/>
            <a:ext cx="64008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63347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105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6334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Wheel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6334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τᵢ, vx, vy, ψ̇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6334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Fx,i, Fy,i, ωᵢ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999232"/>
            <a:ext cx="6400800" cy="347472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01752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110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0175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50"/>
                </a:solidFill>
              </a:rPr>
              <a:t>Vehicle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01752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Fx,i, Fy,i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0175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vx, vy, ψ̇, x, y, 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383280"/>
            <a:ext cx="64008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401568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150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00"/>
                </a:solidFill>
              </a:rPr>
              <a:t>Battery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4015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Pelec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401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SOC, V, 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CAN Frame Schedule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1554480"/>
            <a:ext cx="50292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157276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0x100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157276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ACTUATOR_CMD_1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1572768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20 Hz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15727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5722"/>
                </a:solidFill>
              </a:rPr>
              <a:t>RX  Torque, brake, steer, gear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60" y="1938528"/>
            <a:ext cx="5029200" cy="347472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195681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0x200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195681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IMU_ACC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195681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100 Hz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19568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TX  Accel X/Y/Z, temp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95160" y="2322576"/>
            <a:ext cx="50292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234086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0x201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234086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IMU_GYR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23408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100 Hz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234086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TX  Gyro X/Y/Z, 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95160" y="2706624"/>
            <a:ext cx="5029200" cy="347472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272491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0x210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27249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GNSS_LL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2724912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10 Hz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27249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TX  Lat, lon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95160" y="3090672"/>
            <a:ext cx="50292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40880" y="310896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0x211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8120" y="310896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GNSS_AV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310896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10 Hz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12680" y="31089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TX  Alt, vel, fix quality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95160" y="3474720"/>
            <a:ext cx="5029200" cy="347472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0" y="349300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0x220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349300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WHEELS_1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3493008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100 Hz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12680" y="349300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TX  FL/FR/RL/RR wheel speeds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95160" y="3858768"/>
            <a:ext cx="50292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40880" y="38770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0x230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18120" y="387705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BATT_STATE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387705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10 Hz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12680" y="38770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TX  V, I, SOC, temp, power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95160" y="4242816"/>
            <a:ext cx="5029200" cy="347472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40880" y="426110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0x240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18120" y="426110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RADAR_1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26880" y="426110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20 Hz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12680" y="42611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TX  Range, vel, angle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95160" y="4626864"/>
            <a:ext cx="5029200" cy="34747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40880" y="464515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0x300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464515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VEHICLE_STATE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0" y="4645152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50 Hz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12680" y="464515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</a:rPr>
              <a:t>TX  Speed, accel, yaw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Figure 1 — Vehicle Dynamics &amp; Battery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Cusp maneuver: forward → stop (orange dot) → reverse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pic>
        <p:nvPicPr>
          <p:cNvPr id="7" name="Picture 6" descr="Figure_cus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686800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06840" y="1188720"/>
            <a:ext cx="3017520" cy="484632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Trajectory: green=forward, red=reverse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6824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Stop marker at cusp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665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Speed &amp; longitudinal acceleration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505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Steering angle vs yaw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834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Motor torque &amp; brake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186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Battery SOC, voltage, 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Motor &amp; regen power 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Figure 2 — Tire Dynamics (Dugoff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Per-wheel forces · slip ratios · friction utilisation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pic>
        <p:nvPicPr>
          <p:cNvPr id="7" name="Picture 6" descr="Figure_cus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686800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06840" y="1188720"/>
            <a:ext cx="3017520" cy="484632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Fx longitudinal forces per 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6824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Fy lateral forces per wheel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665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Fz normal loads with load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505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σx longitudinal slip ratios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834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σy lateral slip ratios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186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λ friction utilisation (λ&lt;1 = saturated)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Friction circles front &amp; rear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Figure 3 — 3-DOF Lateral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Full planar motion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pic>
        <p:nvPicPr>
          <p:cNvPr id="7" name="Picture 6" descr="Figure_cus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686800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06840" y="1188720"/>
            <a:ext cx="3017520" cy="484632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Lateral velocity vy (m/s)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6824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Yaw rate ψ̇ (rad/s and °/s)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665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Lateral acceleration 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505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Vehicle sideslip angle 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834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Per-wheel slip angles 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186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Phase portrait (vy vs ψ̇)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Trajectory with velocity vectors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Figure 4 — Wheel Torque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Drive / brake torque per wheel · angular velocities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pic>
        <p:nvPicPr>
          <p:cNvPr id="7" name="Picture 6" descr="Figure_cus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686800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06840" y="1188720"/>
            <a:ext cx="3017520" cy="484632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Drive torques τ_RL · τ_RR (RWD)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6824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Torque asymmetry between wheels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665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Brake torques all four wheels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505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Front/rear brake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834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Wheel angular velocity (RPM)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186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Wheel speed asymmetry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Mechanical power τ × 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Figure 5 — Combined Slip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Longitudinal &amp; lateral slip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pic>
        <p:nvPicPr>
          <p:cNvPr id="7" name="Picture 6" descr="Figure_cus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686800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06840" y="1188720"/>
            <a:ext cx="3017520" cy="4846320"/>
          </a:xfrm>
          <a:prstGeom prst="rect">
            <a:avLst/>
          </a:prstGeom>
          <a:solidFill>
            <a:srgbClr val="1E2D4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298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σx longitudinal slip ratios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6824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σy lateral slip 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665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Total slip √(σx² + σy²)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505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Combined slip diagrams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834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Force vectors Fx vs 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186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Friction circles with operating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▸  Friction utilisation vs total slip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Sensor Suite — 5 Types with Validated Noise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Ground truth + realistic noise for ML training and EKF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pic>
        <p:nvPicPr>
          <p:cNvPr id="7" name="Picture 6" descr="battery_wheel_sen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669280" cy="2468880"/>
          </a:xfrm>
          <a:prstGeom prst="rect">
            <a:avLst/>
          </a:prstGeom>
        </p:spPr>
      </p:pic>
      <p:pic>
        <p:nvPicPr>
          <p:cNvPr id="8" name="Picture 7" descr="imu_se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669280" cy="2468880"/>
          </a:xfrm>
          <a:prstGeom prst="rect">
            <a:avLst/>
          </a:prstGeom>
        </p:spPr>
      </p:pic>
      <p:pic>
        <p:nvPicPr>
          <p:cNvPr id="9" name="Picture 8" descr="gnss_sens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49039"/>
            <a:ext cx="5669280" cy="2468880"/>
          </a:xfrm>
          <a:prstGeom prst="rect">
            <a:avLst/>
          </a:prstGeom>
        </p:spPr>
      </p:pic>
      <p:pic>
        <p:nvPicPr>
          <p:cNvPr id="10" name="Picture 9" descr="radar_sen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749039"/>
            <a:ext cx="56692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Developments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</a:rPr>
              <a:t>Near-term  ·  Medium-term  ·  Long-term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566160" cy="4663440"/>
          </a:xfrm>
          <a:prstGeom prst="rect">
            <a:avLst/>
          </a:prstGeom>
          <a:solidFill>
            <a:srgbClr val="1E2D4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566160" cy="43891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93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7"/>
                </a:solidFill>
              </a:rPr>
              <a:t>Near-Term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Grafana dashboard templates (live InfluxDB)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854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Multi-target radar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87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Lua scenario scripting for reverse/cusp maneuvers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00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Automated test coverage for 3-DOF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92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Trajectory replay &amp; comparison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088" y="1234440"/>
            <a:ext cx="3566160" cy="4663440"/>
          </a:xfrm>
          <a:prstGeom prst="rect">
            <a:avLst/>
          </a:prstGeom>
          <a:solidFill>
            <a:srgbClr val="1E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33088" y="1234440"/>
            <a:ext cx="356616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2893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7"/>
                </a:solidFill>
              </a:rPr>
              <a:t>Medium-Term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17830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Camera sensor simulation (lane detection)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1854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Thermal management subsystem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587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MQTT bridge for IoT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9900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MPC / pure-pursuit controller in C++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3392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Monte Carlo noise sensitivity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6136" y="1234440"/>
            <a:ext cx="3566160" cy="4663440"/>
          </a:xfrm>
          <a:prstGeom prst="rect">
            <a:avLst/>
          </a:prstGeom>
          <a:solidFill>
            <a:srgbClr val="1E2D45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46136" y="1234440"/>
            <a:ext cx="3566160" cy="438912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12893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7"/>
                </a:solidFill>
              </a:rPr>
              <a:t>Long-Term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17830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Hardware-in-the-Loop with real CAN hardware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21854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Full 6-DOF dynamics (roll, pitch, heave)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2587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ROS2 integration for sensor fusion nodes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29900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Multi-vehicle simulation (convoy operations)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39242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Cloud-based simulation orchestration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80A0"/>
                </a:solidFill>
              </a:rPr>
              <a:t>Mario Tilocca  |  Vehicle Dynamics SIL Framework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566160" cy="4389120"/>
          </a:xfrm>
          <a:prstGeom prst="rect">
            <a:avLst/>
          </a:prstGeom>
          <a:solidFill>
            <a:srgbClr val="1E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566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7"/>
                </a:solidFill>
              </a:rPr>
              <a:t>Physics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Full 3-DOF rigid body  (vx · vy · ψ̇ · x · y · 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31135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Centripetal coupling — essential for cornering 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1518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Dugoff tire model with friction circle saturation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92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Per-wheel rotational dynamics (wheel spin / lock)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Longitudinal + lateral load transfer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1325880"/>
            <a:ext cx="3566160" cy="4389120"/>
          </a:xfrm>
          <a:prstGeom prst="rect">
            <a:avLst/>
          </a:prstGeom>
          <a:solidFill>
            <a:srgbClr val="1E2D45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3088" y="1325880"/>
            <a:ext cx="3566160" cy="41148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7"/>
                </a:solidFill>
              </a:rPr>
              <a:t>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84708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Priority-ordered subsystem execution (50→150)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2231135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CAN RX/TX at 10–100 Hz — HIL-ready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61518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Gear selector via CAN (Forward/Neutral/Reverse)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9992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Hybrid kinematic/dynamic blend (0→4 m/s transition)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33832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93-column CSV with full ground truth + sensor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46136" y="1325880"/>
            <a:ext cx="3566160" cy="4389120"/>
          </a:xfrm>
          <a:prstGeom prst="rect">
            <a:avLst/>
          </a:prstGeom>
          <a:solidFill>
            <a:srgbClr val="1E2D4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46136" y="1325880"/>
            <a:ext cx="356616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7"/>
                </a:solidFill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84708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Cusp maneuver: forward → stop → reverse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2231135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5-figure analysis: dynamics · tire · lateral · torque · slip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261518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5 sensor types validated against industry specs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29992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7 test suites · 91 unit tests passing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3832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▸  Real-time at 100 Hz on single CPU 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98932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B4D8"/>
                </a:solidFill>
              </a:rPr>
              <a:t>"A production-grade SIL framework demonstrating expertise in vehicle dynamics, tire modeling, real-time systems, sensor simulation, and CAN integration."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